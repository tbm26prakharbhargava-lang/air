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23774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164592" cy="4297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822960"/>
            <a:ext cx="45720" cy="4297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8046720" cy="13258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Sarvam AI Brand Teardown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81381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1800">
                <a:solidFill>
                  <a:srgbClr val="FF7A1A"/>
                </a:solidFill>
              </a:defRPr>
            </a:pPr>
            <a:r>
              <a:t>Operationalizing brand, GTM, and equity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8503920" cy="22860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BFC9D4"/>
                </a:solidFill>
              </a:defRPr>
            </a:pPr>
            <a:r>
              <a:t>Reference mode: presentation-first, inspired by the Blinkit teardown flow</a:t>
            </a:r>
          </a:p>
          <a:p>
            <a:pPr>
              <a:spcAft>
                <a:spcPts val="900"/>
              </a:spcAft>
              <a:defRPr sz="1600">
                <a:solidFill>
                  <a:srgbClr val="BFC9D4"/>
                </a:solidFill>
              </a:defRPr>
            </a:pPr>
            <a:r>
              <a:t>Objective: turn Sarvam from a strong technology story into a market-shaping brand system</a:t>
            </a:r>
          </a:p>
          <a:p>
            <a:pPr>
              <a:spcAft>
                <a:spcPts val="900"/>
              </a:spcAft>
              <a:defRPr sz="1600">
                <a:solidFill>
                  <a:srgbClr val="BFC9D4"/>
                </a:solidFill>
              </a:defRPr>
            </a:pPr>
            <a:r>
              <a:t>Scope: business model, product stack, market perception, brand equity, GTM, and future stretch</a:t>
            </a:r>
          </a:p>
          <a:p>
            <a:pPr>
              <a:spcAft>
                <a:spcPts val="900"/>
              </a:spcAft>
              <a:defRPr sz="1600">
                <a:solidFill>
                  <a:srgbClr val="BFC9D4"/>
                </a:solidFill>
              </a:defRPr>
            </a:pPr>
            <a:r>
              <a:t>Note: official brand spelling is "Sarvam AI"; the user brief used "Servam AI"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914400"/>
            <a:ext cx="2331720" cy="2971800"/>
          </a:xfrm>
          <a:prstGeom prst="round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143000"/>
            <a:ext cx="1874519" cy="2514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1300" b="1">
                <a:solidFill>
                  <a:srgbClr val="FF7A1A"/>
                </a:solidFill>
              </a:defRPr>
            </a:pPr>
            <a:r>
              <a:t>Focus</a:t>
            </a:r>
          </a:p>
          <a:p>
            <a:pPr>
              <a:spcBef>
                <a:spcPts val="800"/>
              </a:spcBef>
              <a:defRPr sz="1600">
                <a:solidFill>
                  <a:srgbClr val="F5F7FA"/>
                </a:solidFill>
              </a:defRPr>
            </a:pPr>
            <a:r>
              <a:t>Brand equity</a:t>
            </a:r>
          </a:p>
          <a:p>
            <a:pPr>
              <a:spcBef>
                <a:spcPts val="800"/>
              </a:spcBef>
              <a:defRPr sz="1600">
                <a:solidFill>
                  <a:srgbClr val="F5F7FA"/>
                </a:solidFill>
              </a:defRPr>
            </a:pPr>
            <a:r>
              <a:t>Positioning</a:t>
            </a:r>
          </a:p>
          <a:p>
            <a:pPr>
              <a:spcBef>
                <a:spcPts val="800"/>
              </a:spcBef>
              <a:defRPr sz="1600">
                <a:solidFill>
                  <a:srgbClr val="F5F7FA"/>
                </a:solidFill>
              </a:defRPr>
            </a:pPr>
            <a:r>
              <a:t>GTM operating model</a:t>
            </a:r>
          </a:p>
          <a:p>
            <a:pPr>
              <a:spcBef>
                <a:spcPts val="800"/>
              </a:spcBef>
              <a:defRPr sz="1600">
                <a:solidFill>
                  <a:srgbClr val="F5F7FA"/>
                </a:solidFill>
              </a:defRPr>
            </a:pPr>
            <a:r>
              <a:t>Future stretch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1/32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Sarvam already owns a rare strategic space: sovereign AI for India, across language, voice, and deployment.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The company is not just a model lab. It is building a full stack: models, APIs, enterprise workflows, edge deployment, and a consumer proof point.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Its strongest equity today is differentiation and seriousness.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Its weakest equity today is mainstream salience and emotionally sticky resonance.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Market perception is promising but uneven: builders see substance; broader audiences still see a technical brand with high claims that need repeated proof.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Brand opportunity: move from "India's sovereign AI platform" to "the intelligence layer for multilingual India."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GTM implication: sell proof before poetry. Every brand act must reduce adoption risk and increase perceived inevitability.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2/32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Sarvam's core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700" b="1">
                <a:solidFill>
                  <a:srgbClr val="FF7A1A"/>
                </a:solidFill>
              </a:defRPr>
            </a:pPr>
            <a:r>
              <a:t>One-line thesis: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Sarvam is building the foundational sovereign AI stack optimized for Indian languages, voice, and population-scale deployment.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1">
                <a:solidFill>
                  <a:srgbClr val="FF7A1A"/>
                </a:solidFill>
              </a:defRPr>
            </a:pPr>
            <a:r>
              <a:t>What makes that thesis powerful: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India is linguistically fragmented but digitally connected.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Voice is often more natural than typing.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Governments and enterprises increasingly need privacy, control, and local relevance.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So the real category is not "another LLM company."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1">
                <a:solidFill>
                  <a:srgbClr val="FF7A1A"/>
                </a:solidFill>
              </a:defRPr>
            </a:pPr>
            <a:r>
              <a:t>The real category is: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India-native intelligence infrastructure.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3/32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Why Sarvam exists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Global frontier models are powerful, but not built around India's language reality, governance needs, or cost constraints.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Indian users do not live in a text-only, English-only, always-online world.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Regulated sectors need deployment control: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cloud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VPC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on-prem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air-gapped environments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India also has a strategic incentive to avoid being only a consumer of intelligence built elsewhere.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Sarvam's timing advantage: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AI demand is real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sovereign infrastructure is now policy-backed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voice and multilingual workflows are still under-owned category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4/32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Product and capability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Input layer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Speech-to-text with Saaras / Sarvam Audio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Text input in Indian languages and code-mixed formats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Vision / OCR for document understanding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Intelligence layer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 30B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 105B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Sarvam-M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translation and reasoning models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Output layer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Bulbul text-to-speech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multilingual generation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dubbing and translation outputs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Workflow layer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Samvaad for conversational agents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Studio for dubbing and multilingual content transformation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Indus as consumer interface / showcase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Deployment layer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APIs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 Cloud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Private Cloud (VPC)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On-Prem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Edge / on-device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Mental model: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 = Voice + Language + Reasoning + Workflow + Deployment for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5/32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What Sarvam actually sells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To developers: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APIs, credits, models, docs, SDK-led experimentation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To enterprises: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multilingual AI workflows with measurable business outcomes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To governments and public systems: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sovereign deployments for citizen-scale service delivery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To ecosystem builders: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open models, community collaboration, India-native tooling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To the market at large: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confidence that India can build serious AI, not just consume it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Commercial structure visible today: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usage-based API pricing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starter, pro, and business plans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sales-led enterprise deployments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cloud, VPC, and on-prem monetization paths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6/32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Use cases where Sarvam already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High-frequency enterprise workflows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collections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customer support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appointment booking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payment follow-ups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National-scale multilingual engagement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SBI Life WhatsApp assistant for 3.5 lakh+ agents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voice-led customer interactions for 8 crore+ customers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Regulated and public-service workflows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Digital Crop Survey pilot across 4 lakh+ farmers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path to 8 crore farmers and 1 crore+ interactions per day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Financial services transformation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Tata Capital multilingual voice AI across customer lifecycle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Content and creator workflows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Studio for dubbing, translation, and document transformation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Future wedge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on-device AI and offline voice workflows through Sarvam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7/32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Competitive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Global model leaders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OpenAI, Google, Anthropic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Strength: frontier intelligence, ecosystem mindshare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Weakness in India context: sovereignty, local nuance, deployment fit, cost for population-scale use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Indian challengers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Krutrim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CoRover / BharatGPT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other IndiaAI-aligned players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Research ecosystem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AI4Bharat and open-source communities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Sarvam's moat is not one thing.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It is the combination of: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India-native data and languages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voice-first capability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deployment control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enterprise and government readiness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open-source credibility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productization beyond APIs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8/32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Current perception in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Positive market signals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seen as serious and technically ambitious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respected for Indian-language and voice focus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credibility rises through IndiaAI mission support and enterprise case studies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open-weight releases signal confidence, not just closed demos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Cautionary signals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some online communities are skeptical of benchmark-heavy claims without repeated third-party validation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broader awareness still trails global AI brands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outside builder circles, Sarvam can still feel abstract or institutional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1">
                <a:solidFill>
                  <a:srgbClr val="FF7A1A"/>
                </a:solidFill>
              </a:defRPr>
            </a:pPr>
            <a:r>
              <a:t>Translation: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Sarvam is admired more than it is yet habitually remembered.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9/32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Directional brand equity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This is a directional scan derived from secondary research, product evidence, customer stories, and market perception.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It is not a primary research survey like the Blinkit deck.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Heuristic scores out of 100: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Brand Salience: 62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Brand Performance: 78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Brand Imagery: 68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Brand Judgement: 61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Brand Feeling: 57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Brand Resonance: 54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Weighted brand equity score: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64.2 / 100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Interpretation: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strong strategic potential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strong proof in capability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incomplete cultural and market lock-in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10/32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salience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Where Sarvam is strongly recalled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sovereign AI for India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Indian-language AI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voice and speech capability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enterprise-grade multilingual workflows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Where recall is still weak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everyday consumer AI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broader business audiences outside AI-aware circles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creator economy and SME mindshare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Problem: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Sarvam is famous in the right rooms, but not yet unavoidable in the market.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Brand task: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expand from "known by insiders" to "default reference point for India-native AI."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11/32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What is working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broad capability stack from models to deployment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real enterprise and public-sector case studies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pricing and deployment options that reduce adoption friction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strong speech, translation, and workflow productization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What raises confidence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open-source releases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benchmark narratives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IndiaAI mission support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on-prem / VPC options for regulated buyers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Performance risk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promises can outpace public understanding if proof is not continually operationalized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Performance verdict: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Sarvam performs like a serious platform, not a concept brand.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12/32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imagery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Today Sarvam feels: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intelligent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sovereign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mission-driven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technical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ambitious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Strong imagery associations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India-first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voice-enabled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public-infrastructure mindset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deep-tech credibility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Imagery gap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the brand is respected, but not yet vividly personified in the culture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it feels like a platform for builders, not yet a movement people want to belong to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Imagery opportunity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make Sarvam feel like the system that helps India speak, build, and transact in its own languages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13/32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Positive judgement drivers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"serious team"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"important national mission"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"good fit for Indian languages and voice"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"credible in enterprise / government contexts"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Friction points in judgement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benchmark skepticism in developer communities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unclear superiority to global models for generic use cases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limited mass-market familiarity compared with ChatGPT / Gemini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What the market needs from Sarvam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more proof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more comparisons in real Indian workflows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more customer-outcome storytelling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Judgement implication: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 must market trust through evidence, not slogans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14/32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feeling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Emotions Sarvam can naturally unlock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5F7FA"/>
                </a:solidFill>
              </a:defRPr>
            </a:pPr>
            <a:r>
              <a:t>pride: India can build this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relief: finally an AI that understands language reality here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confidence: data and deployment can remain under control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curiosity: what else can this stack enable?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Emotions it has not fully claimed yet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affection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delight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habit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fandom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Therefore: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Sarvam should not chase "fun AI brand" positioning too early.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It should first own reassurance, empowerment, and national confidence.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15/32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resonance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700" b="1">
                <a:solidFill>
                  <a:srgbClr val="FF7A1A"/>
                </a:solidFill>
              </a:defRPr>
            </a:pPr>
            <a:r>
              <a:t>Resonance is still emerging because: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much of the brand is B2B / B2G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many end users experience Sarvam through white-labeled workflows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the company is earlier in public ritual-building than consumer AI leaders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What can deepen resonance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a visible developer community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recurring public benchmark and build rituals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flagship customer stories told as national capability stories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Indus and Edge as tangible everyday touchpoints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1">
                <a:solidFill>
                  <a:srgbClr val="FF7A1A"/>
                </a:solidFill>
              </a:defRPr>
            </a:pPr>
            <a:r>
              <a:t>Resonance ambition: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become the brand that enterprises trust, developers recommend, and citizens indirectly benefit from every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16/32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Asset Valuator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5F7FA"/>
                </a:solidFill>
              </a:defRPr>
            </a:pPr>
            <a:r>
              <a:t>Differentiation: 82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sovereign, multilingual, voice-led, deployment-flexible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5F7FA"/>
                </a:solidFill>
              </a:defRPr>
            </a:pPr>
            <a:r>
              <a:t>Relevance: 74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strong for enterprises, governments, and developers building for India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5F7FA"/>
                </a:solidFill>
              </a:defRPr>
            </a:pPr>
            <a:r>
              <a:t>Esteem: 63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rising fast, but still dependent on proof and repeated delivery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5F7FA"/>
                </a:solidFill>
              </a:defRPr>
            </a:pPr>
            <a:r>
              <a:t>Knowledge: 58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known in specialist circles, under-known in broader business and cultural discourse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Position on the matrix: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emerging authority with very high upside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Translation: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Sarvam is not an unknown startup.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It is a high-potential category shaper that must now turn differentiation into inevitable market stature.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17/32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identity prism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Physique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multilingual models, speech stack, APIs, enterprise workflows, sovereign deployment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Personality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serious, sharp, calm, builder-led, nationally ambitious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Culture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India-first technology, public-infrastructure thinking, applied research, accessibility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Relationship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a dependable intelligence partner for high-stakes multilingual workflows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Reflection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developers, enterprise operators, public-system leaders, creators reaching Bharat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Self-image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"I can build for real India, not just elite English users."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Important tension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Sarvam must balance national ambition with practical utility.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18/32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elements and archetype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Strong existing brand elements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name "Sarvam" signals breadth and Indic rootedness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mission line "AI for all from India" is memorable and inclusive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product naming system creates a coherent India-native language universe: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Samvaad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Indus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Saaras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Bulbul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Mayura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Tone of voice today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thoughtful, technical, understated, institution-ready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Founder effect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Vivek Raghavan and Pratyush Kumar carry credibility as public faces of the mission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Recommended archetype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Primary: Sage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Secondary: Creator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Why this fits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 must teach, clarify, and prove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but it must also feel like a company building new national capability from first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19/32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The strategic brand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Today Sarvam is easy to admire but harder to summarize in one market-ready sentence.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1">
                <a:solidFill>
                  <a:srgbClr val="FF7A1A"/>
                </a:solidFill>
              </a:defRPr>
            </a:pPr>
            <a:r>
              <a:t>It risks being understood in fragments: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"the sovereign model company"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"the voice AI company"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"the IndiaAI startup"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"the enterprise bot platform"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Fragmented understanding weakens brand compounding.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The brand needs one unifying idea that can stretch across APIs, enterprise workflows, public systems, creators, and edge devices.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7FA"/>
                </a:solidFill>
              </a:defRPr>
            </a:pPr>
            <a:r>
              <a:t>Without that, GTM becomes channel-specific and product-specific instead of brand-multiplying.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20/32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Positioning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Current positioning: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India's sovereign AI platform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Recommended positioning: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The intelligence layer for multilingual India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Why this is stronger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broader than "model company"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more operational than "AI for all"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flexible across enterprise, government, developer, and consumer touchpoints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makes language + voice + deployment feel like one integrated story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Positioning line options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Built for how India speaks, works, and scales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Intelligence infrastructure for India's languages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The sovereign intelligence layer for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21/32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1. Voice-first where India is voice-first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voice is not a feature; it is distribution infrastructure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2. India-native, not globally adapted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build for Indian language reality, accents, code-mixing, and operating conditions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3. Utility over spectacle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repeated workflow value matters more than one-time demos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4. Trust through evidence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case studies, model cards, benchmarks, and deployment controls are brand assets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5. Fit into existing behavior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WhatsApp, telephony, contact centers, enterprise systems, and on-device surfaces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6. Win builders to win the market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developers, integrators, CIOs, and public-system leaders are force multipliers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7. Every deployment should widen the moat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usage should improve data, tuning, adoption proof, and partner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22/32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GTM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Layer 1: credibility engine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benchmark transparency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open releases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model cards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"state of Indian language AI" reports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Layer 2: proof engine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Tata Capital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SBI Life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Digital Crop Survey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more vertical case studies with outcome metrics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Layer 3: ecosystem engine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startup program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developer community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systems integrators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cloud and device partnerships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Layer 4: visibility engine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founder thought leadership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product demos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creator and educator collaborations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Indus as public proof of everyday utility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GTM rule: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brand marketing should lower perceived implementation risk at every stage.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23/32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Audience and wedge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Audience 1: enterprises in regulated sectors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BFSI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insurance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telecom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healthcare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government programs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Audience 2: developers and startups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need affordable APIs, speed, and India-native tooling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Audience 3: public-system leaders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need privacy, scale, language reach, and citizen trust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Audience 4: creators, publishers, and education networks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need dubbing, translation, and cross-language distribution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Audience 5: future consumers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need a useful AI that understands speech, language, and context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Wedge logic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enterprise pays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developers spread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public systems legitimize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creators humanize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consumers normalize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24/32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Messaging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Master message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Sarvam helps India build and use AI in the languages, voices, and systems people already rely 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For enterprise buyers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deploy multilingual AI that actually works in Indian workflows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For developers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build India-native AI faster, cheaper, and with more control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For governments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deliver citizen-scale intelligence with sovereignty and language inclusion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For creators and educators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make one piece of content speak to every corner of India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For the broader market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India does not need imported intelligence alone; it can build its 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25/32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Brand-led campaign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Campaign platform 1: "Built for how India speaks"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hero voice-led use cases across banking, governance, healthcare, and support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Campaign platform 2: "AI for all from India"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show geographic and language inclusion, not abstract nationalism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5F7FA"/>
                </a:solidFill>
              </a:defRPr>
            </a:pPr>
            <a:r>
              <a:t>Campaign platform 3: "Proof at scale"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every major campaign anchored in a real deployment metric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Signature content properties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quarterly Indian Language AI Index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Sarvam Build Week for developers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India Voice Stack demos across states and sectors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customer outcome films, not only founder interviews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Important creative rule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show real tasks, real accents, real friction, real resolution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26/32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Future portfolio stretch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Natural adjacencies Sarvam can own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sector-specific AI agents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citizen-service operating systems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creator and publisher translation network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offline and edge copilots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AI for devices and wearables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Role of Indus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public proof point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feedback loop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trust and familiarity builder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Role of Edge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access wedge for low-connectivity and privacy-critical contexts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Role of Samvaad and Studio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monetization engines that convert capability into category ownership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F7A1A"/>
                </a:solidFill>
              </a:defRPr>
            </a:pPr>
            <a:r>
              <a:t>Portfolio logic: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 should stretch from infrastructure to interfaces without losing the masterbrand promise of India-native intelligence.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27/32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How Sarvam can increase brand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Increase salience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own the language + voice + sovereign AI conversation consistently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Increase performance perception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package more before-and-after customer outcome stories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Increase imagery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make the brand feel closer to everyday India, not only policy and enterprise rooms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Increase judgement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publish transparent evaluation frameworks and third-party validations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Increase feeling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celebrate user empowerment, inclusion, and local-language success stories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Increase resonance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build recurring rituals for developers, customers, and public audiences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 b="1">
                <a:solidFill>
                  <a:srgbClr val="FF7A1A"/>
                </a:solidFill>
              </a:defRPr>
            </a:pPr>
            <a:r>
              <a:t>Equity formula: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F5F7FA"/>
                </a:solidFill>
              </a:defRPr>
            </a:pPr>
            <a:r>
              <a:t>proof + visibility + relevance + repetition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28/32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KPI dashboard for brand and GTM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Brand KPIs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unaided awareness in AI-aware business audiences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share of voice in "Indian language AI" and "sovereign AI"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branded search growth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founder / brand sentiment quality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Product and demand KPIs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API signups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enterprise pipeline sourced by brand content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case study consumption to demo-request conversion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active developers and retained teams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Trust KPIs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benchmark citations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third-party evaluations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security / deployment conversations initiated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Resonance KPIs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repeat community participation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open-source engagement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creator / ecosystem partner referrals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29/32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Operating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Phase 1: sharpen the category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unify story under "intelligence layer for multilingual India"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standardize brand language across site, decks, and sales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Phase 2: industrialize proof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benchmark hub, model cards, case study factory, deployment ROI narratives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Phase 3: widen cultural reach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voice-first campaigns, creator collaborations, developer rituals, public demos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 b="1">
                <a:solidFill>
                  <a:srgbClr val="F5F7FA"/>
                </a:solidFill>
              </a:defRPr>
            </a:pPr>
            <a:r>
              <a:t>Phase 4: compound across surfaces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enterprise wins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developer adoption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public-system trust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consumer familiarity via Indus and Edge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End state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Sarvam is not only perceived as India's sovereign AI builder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F5F7FA"/>
                </a:solidFill>
              </a:defRPr>
            </a:pPr>
            <a:r>
              <a:t>it becomes the default brand for AI that truly works in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30/32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Final takeaway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Sarvam's biggest opportunity is not simply to market AI.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 b="1">
                <a:solidFill>
                  <a:srgbClr val="FF7A1A"/>
                </a:solidFill>
              </a:defRPr>
            </a:pPr>
            <a:r>
              <a:t>It is to market confidence: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confidence that India can build frontier systems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confidence that multilingual AI can work in the real world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confidence that enterprises and governments can deploy it safely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confidence that the next billion users can interact with AI in their own language and voice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If Sarvam operationalizes brand as a proof system, not a decoration layer, it can grow from a strong company into a foundational national brand.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31/32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2801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530352"/>
            <a:ext cx="73152" cy="544068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42416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Appendix 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25296"/>
            <a:ext cx="13258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52628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spcAft>
                <a:spcPts val="500"/>
              </a:spcAft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900" b="1">
                <a:solidFill>
                  <a:srgbClr val="FF7A1A"/>
                </a:solidFill>
              </a:defRPr>
            </a:pPr>
            <a:r>
              <a:t>Supporting research and source links are captured in: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sarvam_ai_sources.md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This deck is intentionally strategy-led and secondary-research-based.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F5F7FA"/>
                </a:solidFill>
              </a:defRPr>
            </a:pPr>
            <a:r>
              <a:t>If a future version should match the Blinkit deck even more closely, the next step is a primary survey to quantify equity scores and category associations.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91072"/>
            <a:ext cx="10972800" cy="18288"/>
          </a:xfrm>
          <a:prstGeom prst="rect">
            <a:avLst/>
          </a:prstGeom>
          <a:solidFill>
            <a:srgbClr val="2A3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40233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>
              <a:defRPr sz="900">
                <a:solidFill>
                  <a:srgbClr val="BFC9D4"/>
                </a:solidFill>
              </a:defRPr>
            </a:pPr>
            <a:r>
              <a:t>Sarvam AI brand teardown | secondary research strategy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normAutofit/>
          </a:bodyPr>
          <a:lstStyle/>
          <a:p>
            <a:pPr algn="r">
              <a:defRPr sz="900">
                <a:solidFill>
                  <a:srgbClr val="BFC9D4"/>
                </a:solidFill>
              </a:defRPr>
            </a:pPr>
            <a:r>
              <a:t>32/32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